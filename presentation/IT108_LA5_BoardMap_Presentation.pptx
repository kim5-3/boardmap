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-149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75264" y="6422065"/>
            <a:ext cx="1016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422065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995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22065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165600" y="6422065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871200" y="6422065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BoardMap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PostgreSQL Views, Functions, Procedures &amp;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45473"/>
            <a:ext cx="10607040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900"/>
              </a:spcAft>
              <a:defRPr sz="2000"/>
            </a:pPr>
            <a:r>
              <a:rPr sz="2800" dirty="0"/>
              <a:t>IT 108 – Advanced Database Management </a:t>
            </a:r>
            <a:r>
              <a:rPr sz="2800" dirty="0" smtClean="0"/>
              <a:t>System</a:t>
            </a:r>
            <a:endParaRPr lang="en-US" sz="2800" dirty="0" smtClean="0"/>
          </a:p>
          <a:p>
            <a:pPr algn="ctr">
              <a:spcAft>
                <a:spcPts val="900"/>
              </a:spcAft>
              <a:defRPr sz="2000"/>
            </a:pPr>
            <a:endParaRPr sz="2800" dirty="0"/>
          </a:p>
          <a:p>
            <a:pPr>
              <a:spcAft>
                <a:spcPts val="900"/>
              </a:spcAft>
              <a:defRPr sz="2000"/>
            </a:pPr>
            <a:r>
              <a:rPr dirty="0"/>
              <a:t>Laboratory Activity No. 5</a:t>
            </a:r>
          </a:p>
          <a:p>
            <a:pPr>
              <a:spcAft>
                <a:spcPts val="900"/>
              </a:spcAft>
              <a:defRPr sz="2000"/>
            </a:pPr>
            <a:r>
              <a:rPr dirty="0"/>
              <a:t>GIS-Based Machine Learning Boarding House Mapping and Recommendation System in </a:t>
            </a:r>
            <a:r>
              <a:rPr dirty="0" err="1"/>
              <a:t>Cabadbaran</a:t>
            </a:r>
            <a:r>
              <a:rPr dirty="0"/>
              <a:t> </a:t>
            </a:r>
            <a:r>
              <a:rPr dirty="0" smtClean="0"/>
              <a:t>City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  <p:sp>
        <p:nvSpPr>
          <p:cNvPr id="6" name="Rectangle 5"/>
          <p:cNvSpPr/>
          <p:nvPr/>
        </p:nvSpPr>
        <p:spPr>
          <a:xfrm>
            <a:off x="9297685" y="5718124"/>
            <a:ext cx="21323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lang="da-DK" sz="1100" dirty="0"/>
              <a:t>Instructor: Jean Y. Villasin, MIT</a:t>
            </a:r>
            <a:endParaRPr lang="da-DK" sz="1100" dirty="0"/>
          </a:p>
        </p:txBody>
      </p:sp>
      <p:sp>
        <p:nvSpPr>
          <p:cNvPr id="7" name="Rectangle 6"/>
          <p:cNvSpPr/>
          <p:nvPr/>
        </p:nvSpPr>
        <p:spPr>
          <a:xfrm>
            <a:off x="583095" y="4562849"/>
            <a:ext cx="6096000" cy="13003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 lang="en-US" dirty="0"/>
              <a:t>Members: 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1200" dirty="0" smtClean="0"/>
              <a:t>			Alexander </a:t>
            </a:r>
            <a:r>
              <a:rPr lang="en-US" sz="1200" dirty="0"/>
              <a:t>Camacho 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1200" dirty="0" smtClean="0"/>
              <a:t>			</a:t>
            </a:r>
            <a:r>
              <a:rPr lang="en-US" sz="1200" dirty="0" err="1" smtClean="0"/>
              <a:t>Leojnn</a:t>
            </a:r>
            <a:r>
              <a:rPr lang="en-US" sz="1200" dirty="0" smtClean="0"/>
              <a:t> </a:t>
            </a:r>
            <a:r>
              <a:rPr lang="en-US" sz="1200" dirty="0"/>
              <a:t>August </a:t>
            </a:r>
            <a:r>
              <a:rPr lang="en-US" sz="1200" dirty="0" err="1"/>
              <a:t>Mig</a:t>
            </a:r>
            <a:r>
              <a:rPr lang="en-US" sz="1200" dirty="0"/>
              <a:t> </a:t>
            </a:r>
            <a:r>
              <a:rPr lang="en-US" sz="1200" dirty="0" err="1"/>
              <a:t>Sabayle</a:t>
            </a:r>
            <a:r>
              <a:rPr lang="en-US" sz="1200" dirty="0"/>
              <a:t> </a:t>
            </a:r>
          </a:p>
          <a:p>
            <a:pPr>
              <a:spcAft>
                <a:spcPts val="900"/>
              </a:spcAft>
              <a:defRPr sz="2000"/>
            </a:pPr>
            <a:r>
              <a:rPr lang="en-US" sz="1200" dirty="0" smtClean="0"/>
              <a:t>			Kim </a:t>
            </a:r>
            <a:r>
              <a:rPr lang="en-US" sz="1200" dirty="0" err="1"/>
              <a:t>Embarnace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Database Logic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387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 err="1"/>
              <a:t>BoardMap</a:t>
            </a:r>
            <a:r>
              <a:rPr dirty="0"/>
              <a:t> uses </a:t>
            </a:r>
            <a:r>
              <a:rPr dirty="0" err="1"/>
              <a:t>PostgreSQL</a:t>
            </a:r>
            <a:r>
              <a:rPr dirty="0"/>
              <a:t> as the authoritative database layer for reusable data logic and integrity rules.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Submitted objects: </a:t>
            </a:r>
            <a:r>
              <a:rPr lang="en-US" dirty="0" smtClean="0"/>
              <a:t>     </a:t>
            </a:r>
            <a:r>
              <a:rPr lang="en-US" sz="1200" dirty="0" smtClean="0"/>
              <a:t> </a:t>
            </a:r>
            <a:r>
              <a:rPr sz="1200" dirty="0" smtClean="0"/>
              <a:t>2 </a:t>
            </a:r>
            <a:r>
              <a:rPr sz="1200" dirty="0"/>
              <a:t>views </a:t>
            </a:r>
            <a:endParaRPr lang="en-US" sz="1200" dirty="0"/>
          </a:p>
          <a:p>
            <a:pPr lvl="5">
              <a:spcAft>
                <a:spcPts val="900"/>
              </a:spcAft>
              <a:defRPr sz="1800"/>
            </a:pPr>
            <a:r>
              <a:rPr sz="1200" dirty="0" smtClean="0"/>
              <a:t>2 </a:t>
            </a:r>
            <a:r>
              <a:rPr sz="1200" dirty="0"/>
              <a:t>PL/</a:t>
            </a:r>
            <a:r>
              <a:rPr sz="1200" dirty="0" err="1"/>
              <a:t>pgSQL</a:t>
            </a:r>
            <a:r>
              <a:rPr sz="1200" dirty="0"/>
              <a:t> functions </a:t>
            </a:r>
            <a:endParaRPr lang="en-US" sz="1200" dirty="0"/>
          </a:p>
          <a:p>
            <a:pPr lvl="5">
              <a:spcAft>
                <a:spcPts val="900"/>
              </a:spcAft>
              <a:defRPr sz="1800"/>
            </a:pPr>
            <a:r>
              <a:rPr sz="1200" dirty="0" smtClean="0"/>
              <a:t>1 </a:t>
            </a:r>
            <a:r>
              <a:rPr sz="1200" dirty="0"/>
              <a:t>stored procedure </a:t>
            </a:r>
            <a:endParaRPr lang="en-US" sz="1200" dirty="0"/>
          </a:p>
          <a:p>
            <a:pPr lvl="5">
              <a:spcAft>
                <a:spcPts val="900"/>
              </a:spcAft>
              <a:defRPr sz="1800"/>
            </a:pPr>
            <a:r>
              <a:rPr sz="1200" dirty="0" smtClean="0"/>
              <a:t>2 triggers</a:t>
            </a:r>
            <a:endParaRPr lang="en-US" sz="1200" dirty="0" smtClean="0"/>
          </a:p>
          <a:p>
            <a:pPr lvl="5">
              <a:spcAft>
                <a:spcPts val="900"/>
              </a:spcAft>
              <a:defRPr sz="1800"/>
            </a:pPr>
            <a:endParaRPr sz="1050" dirty="0"/>
          </a:p>
          <a:p>
            <a:pPr>
              <a:spcAft>
                <a:spcPts val="900"/>
              </a:spcAft>
              <a:defRPr sz="1800"/>
            </a:pPr>
            <a:r>
              <a:rPr sz="1400" dirty="0"/>
              <a:t>Views support approved-house and available-room retrieval</a:t>
            </a:r>
            <a:r>
              <a:rPr sz="1400" dirty="0" smtClean="0"/>
              <a:t>.</a:t>
            </a:r>
            <a:endParaRPr sz="1400" dirty="0"/>
          </a:p>
          <a:p>
            <a:pPr>
              <a:spcAft>
                <a:spcPts val="900"/>
              </a:spcAft>
              <a:defRPr sz="1800"/>
            </a:pPr>
            <a:r>
              <a:rPr sz="1400" dirty="0"/>
              <a:t>Functions centralize room availability logic</a:t>
            </a:r>
            <a:r>
              <a:rPr sz="1400" dirty="0" smtClean="0"/>
              <a:t>.</a:t>
            </a:r>
            <a:endParaRPr sz="1400" dirty="0"/>
          </a:p>
          <a:p>
            <a:pPr>
              <a:spcAft>
                <a:spcPts val="900"/>
              </a:spcAft>
              <a:defRPr sz="1800"/>
            </a:pPr>
            <a:r>
              <a:rPr sz="1400" dirty="0"/>
              <a:t>Procedure supports owner-authorized listing deactivation</a:t>
            </a:r>
            <a:r>
              <a:rPr sz="1400" dirty="0" smtClean="0"/>
              <a:t>.</a:t>
            </a:r>
            <a:endParaRPr sz="1400" dirty="0"/>
          </a:p>
          <a:p>
            <a:pPr>
              <a:spcAft>
                <a:spcPts val="900"/>
              </a:spcAft>
              <a:defRPr sz="1800"/>
            </a:pPr>
            <a:r>
              <a:rPr sz="1400" dirty="0"/>
              <a:t>Triggers enforce automatic room-status and listing re-approval behavior</a:t>
            </a:r>
            <a:r>
              <a:rPr sz="1400" dirty="0" smtClean="0"/>
              <a:t>.</a:t>
            </a:r>
            <a:endParaRPr sz="1400" dirty="0"/>
          </a:p>
          <a:p>
            <a:pPr>
              <a:spcAft>
                <a:spcPts val="900"/>
              </a:spcAft>
              <a:defRPr sz="1800"/>
            </a:pPr>
            <a:r>
              <a:rPr sz="1400" dirty="0"/>
              <a:t>Testing includes positive, failure, and constraint/boundary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311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/>
              <a:t>V01 – </a:t>
            </a:r>
            <a:r>
              <a:rPr dirty="0" err="1"/>
              <a:t>system_core.vw_approved_boarding_houses</a:t>
            </a: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• Approved boarding houses with owner and location information.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Supports </a:t>
            </a:r>
            <a:r>
              <a:rPr dirty="0" err="1"/>
              <a:t>BoardMap</a:t>
            </a:r>
            <a:r>
              <a:rPr dirty="0"/>
              <a:t> map/search and property-listing features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V02 – </a:t>
            </a:r>
            <a:r>
              <a:rPr dirty="0" err="1"/>
              <a:t>system_core.vw_available_boarding_rooms</a:t>
            </a: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• Approved houses with available rooms and available slots.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Includes room type, price, capacity, and location fields.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Views provide reusable read-only result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PL/pgSQL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/>
              <a:t>F01 – </a:t>
            </a:r>
            <a:r>
              <a:rPr dirty="0" err="1"/>
              <a:t>fn_get_available_room_count</a:t>
            </a:r>
            <a:r>
              <a:rPr dirty="0"/>
              <a:t>(</a:t>
            </a:r>
            <a:r>
              <a:rPr dirty="0" err="1"/>
              <a:t>p_boarding_house_id</a:t>
            </a:r>
            <a:r>
              <a:rPr dirty="0"/>
              <a:t>)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Returns total available slots for a boarding house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F02 – </a:t>
            </a:r>
            <a:r>
              <a:rPr dirty="0" err="1"/>
              <a:t>fn_is_boarding_house_available</a:t>
            </a:r>
            <a:r>
              <a:rPr dirty="0"/>
              <a:t>(</a:t>
            </a:r>
            <a:r>
              <a:rPr dirty="0" err="1"/>
              <a:t>p_boarding_house_id</a:t>
            </a:r>
            <a:r>
              <a:rPr dirty="0"/>
              <a:t>)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Returns TRUE when an existing house has an available room.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Raises a controlled exception when the boarding-house ID does not exist.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Functions keep reusable availability logic close to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Stored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P01 – sp_deactivate_boarding_house(p_boarding_house_id, p_owner_id)</a:t>
            </a:r>
          </a:p>
          <a:p>
            <a:pPr>
              <a:spcAft>
                <a:spcPts val="900"/>
              </a:spcAft>
              <a:defRPr sz="1800"/>
            </a:pPr>
            <a:r>
              <a:t>• Verifies the boarding house belongs to the supplied owner.</a:t>
            </a:r>
          </a:p>
          <a:p>
            <a:pPr>
              <a:spcAft>
                <a:spcPts val="900"/>
              </a:spcAft>
              <a:defRPr sz="1800"/>
            </a:pPr>
            <a:r>
              <a:t>• Changes the boarding house status to inactive.</a:t>
            </a:r>
          </a:p>
          <a:p>
            <a:pPr>
              <a:spcAft>
                <a:spcPts val="900"/>
              </a:spcAft>
              <a:defRPr sz="1800"/>
            </a:pPr>
            <a:r>
              <a:t>• Changes its rooms to inactive.</a:t>
            </a:r>
          </a:p>
          <a:p>
            <a:pPr>
              <a:spcAft>
                <a:spcPts val="900"/>
              </a:spcAft>
              <a:defRPr sz="1800"/>
            </a:pPr>
            <a:r>
              <a:t>• Raises an exception when ownership validation fails.</a:t>
            </a:r>
          </a:p>
          <a:p>
            <a:pPr>
              <a:spcAft>
                <a:spcPts val="900"/>
              </a:spcAft>
              <a:defRPr sz="1800"/>
            </a:pPr>
            <a:r>
              <a:t>Use a development/test database or a transaction with ROLLBACK for destructive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/>
              <a:t>T01 – </a:t>
            </a:r>
            <a:r>
              <a:rPr dirty="0" err="1"/>
              <a:t>trg_room_status_from_slots</a:t>
            </a: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• Sets room status to full when </a:t>
            </a:r>
            <a:r>
              <a:rPr dirty="0" err="1"/>
              <a:t>available_slots</a:t>
            </a:r>
            <a:r>
              <a:rPr dirty="0"/>
              <a:t> = 0.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• Can restore status to available when slots become positive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T02 – </a:t>
            </a:r>
            <a:r>
              <a:rPr dirty="0" err="1"/>
              <a:t>trg_reapproval_on_listing_change</a:t>
            </a: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• Changes an approved listing to pending when important listing fields are edited.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Triggers enforce automatic integrity behavior during database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Testing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/>
              <a:t>10 test cases are organized in the submitted SQL logic file.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Tests 1–2: View result grids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Tests 3–5: Function success and controlled error cases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Tests 6–7: Procedure before/after behavior and validation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Tests 8–9: Trigger behavior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Test 10: Review/constraint failure case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Database vs API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sz="2000" b="1" dirty="0"/>
              <a:t>Database layer: </a:t>
            </a:r>
            <a:r>
              <a:rPr dirty="0"/>
              <a:t>reusable data rules, integrity checks, views, functions, procedures, and triggers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b="1" dirty="0"/>
              <a:t>API/application layer: </a:t>
            </a:r>
            <a:r>
              <a:rPr dirty="0"/>
              <a:t>authentication, authorization flow, request handling, UI responses, and recommendation workflow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Database rules remain authoritative where consistency must be preserved regardless of client.</a:t>
            </a:r>
          </a:p>
          <a:p>
            <a:pPr>
              <a:spcAft>
                <a:spcPts val="900"/>
              </a:spcAft>
              <a:defRPr sz="1800"/>
            </a:pPr>
            <a:r>
              <a:rPr dirty="0" err="1"/>
              <a:t>BoardMap</a:t>
            </a:r>
            <a:r>
              <a:rPr dirty="0"/>
              <a:t> uses </a:t>
            </a:r>
            <a:r>
              <a:rPr dirty="0" err="1"/>
              <a:t>PostgreSQL</a:t>
            </a:r>
            <a:r>
              <a:rPr dirty="0"/>
              <a:t> for availability/status integrity while the API handles application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Feature-to-Object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/>
              <a:t>Map/Search → V01 and </a:t>
            </a:r>
            <a:r>
              <a:rPr dirty="0" smtClean="0"/>
              <a:t>V02</a:t>
            </a: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Room availability → F01 and F02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Owner listing management → P01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Room availability status integrity → T01</a:t>
            </a:r>
          </a:p>
          <a:p>
            <a:pPr>
              <a:spcAft>
                <a:spcPts val="900"/>
              </a:spcAft>
              <a:defRPr sz="1800"/>
            </a:pPr>
            <a:r>
              <a:rPr dirty="0"/>
              <a:t>Listing re-review after core changes → </a:t>
            </a:r>
            <a:r>
              <a:rPr dirty="0" smtClean="0"/>
              <a:t>T02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rPr dirty="0" err="1"/>
              <a:t>BoardMap's</a:t>
            </a:r>
            <a:r>
              <a:rPr dirty="0"/>
              <a:t> </a:t>
            </a:r>
            <a:r>
              <a:rPr dirty="0" err="1"/>
              <a:t>PostgreSQL</a:t>
            </a:r>
            <a:r>
              <a:rPr dirty="0"/>
              <a:t> logic supports reliable boarding-house discovery and listing management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Views simplify reusable retrieval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Functions centralize availability logic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The procedure supports controlled owner-based deactivation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Triggers automatically enforce important status rules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900"/>
              </a:spcAft>
              <a:defRPr sz="1800"/>
            </a:pPr>
            <a:endParaRPr dirty="0"/>
          </a:p>
          <a:p>
            <a:pPr>
              <a:spcAft>
                <a:spcPts val="900"/>
              </a:spcAft>
              <a:defRPr sz="1800"/>
            </a:pPr>
            <a:r>
              <a:rPr dirty="0"/>
              <a:t>Execution evidence will validate the objects against the actual </a:t>
            </a:r>
            <a:r>
              <a:rPr dirty="0" err="1"/>
              <a:t>BoardMap</a:t>
            </a:r>
            <a:r>
              <a:rPr dirty="0"/>
              <a:t>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BoardMap • IT 108 • Laboratory Activity No.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60</TotalTime>
  <Words>650</Words>
  <Application>Microsoft Office PowerPoint</Application>
  <PresentationFormat>Custom</PresentationFormat>
  <Paragraphs>101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Technic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MyPc</cp:lastModifiedBy>
  <cp:revision>3</cp:revision>
  <dcterms:created xsi:type="dcterms:W3CDTF">2013-01-27T09:14:16Z</dcterms:created>
  <dcterms:modified xsi:type="dcterms:W3CDTF">2026-09-28T19:30:04Z</dcterms:modified>
  <cp:category/>
</cp:coreProperties>
</file>